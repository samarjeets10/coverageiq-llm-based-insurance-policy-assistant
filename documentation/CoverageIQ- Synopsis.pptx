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Crimson Pro SemiBold" panose="020B0604020202020204" charset="0"/>
      <p:regular r:id="rId10"/>
    </p:embeddedFont>
    <p:embeddedFont>
      <p:font typeface="Heebo" pitchFamily="2" charset="-79"/>
      <p:regular r:id="rId11"/>
    </p:embeddedFont>
    <p:embeddedFont>
      <p:font typeface="Heebo Bold" charset="-79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9526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10" Type="http://schemas.openxmlformats.org/officeDocument/2006/relationships/image" Target="../media/image3.pn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sv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3360" y="632123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CoverageIQ: LLM-Based Insurance Policy Assistant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1758454"/>
            <a:ext cx="690644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AI-Powered Insurance Policy Analysis, Retrieval &amp; Recommendation System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3360" y="2112169"/>
            <a:ext cx="6296860" cy="4113609"/>
          </a:xfrm>
          <a:prstGeom prst="roundRect">
            <a:avLst>
              <a:gd name="adj" fmla="val 551"/>
            </a:avLst>
          </a:prstGeom>
          <a:solidFill>
            <a:srgbClr val="F2EEEE"/>
          </a:solidFill>
          <a:ln/>
        </p:spPr>
      </p:sp>
      <p:sp>
        <p:nvSpPr>
          <p:cNvPr id="6" name="Shape 3"/>
          <p:cNvSpPr/>
          <p:nvPr/>
        </p:nvSpPr>
        <p:spPr>
          <a:xfrm>
            <a:off x="5233360" y="2112169"/>
            <a:ext cx="6296860" cy="1626989"/>
          </a:xfrm>
          <a:custGeom>
            <a:avLst/>
            <a:gdLst/>
            <a:ahLst/>
            <a:cxnLst/>
            <a:rect l="l" t="t" r="r" b="b"/>
            <a:pathLst>
              <a:path w="6296860" h="1626989">
                <a:moveTo>
                  <a:pt x="18902" y="0"/>
                </a:moveTo>
                <a:lnTo>
                  <a:pt x="6277958" y="0"/>
                </a:lnTo>
                <a:arcTo wR="18902" hR="18902" stAng="16200000" swAng="5400000"/>
                <a:lnTo>
                  <a:pt x="6296860" y="1626989"/>
                </a:lnTo>
                <a:lnTo>
                  <a:pt x="0" y="1626989"/>
                </a:lnTo>
                <a:lnTo>
                  <a:pt x="0" y="18902"/>
                </a:lnTo>
                <a:arcTo wR="18902" hR="18902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5384566" y="2263378"/>
            <a:ext cx="599444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Team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384566" y="2572147"/>
            <a:ext cx="5994448" cy="1015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1: Prithviraj </a:t>
            </a:r>
            <a:r>
              <a:rPr lang="en-US" sz="1150" dirty="0" err="1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Shamrao</a:t>
            </a: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Patil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cs typeface="Heebo" pitchFamily="34" charset="-120"/>
              </a:rPr>
              <a:t>2: Shravan Sambhaji Kapare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cs typeface="Heebo" pitchFamily="34" charset="-120"/>
              </a:rPr>
              <a:t>3: Samarjeet Sambhaji </a:t>
            </a:r>
            <a:r>
              <a:rPr lang="en-US" sz="1150" dirty="0" err="1">
                <a:solidFill>
                  <a:srgbClr val="4C4C4D"/>
                </a:solidFill>
                <a:latin typeface="Heebo" pitchFamily="34" charset="0"/>
                <a:cs typeface="Heebo" pitchFamily="34" charset="-120"/>
              </a:rPr>
              <a:t>Sabale</a:t>
            </a:r>
            <a:endParaRPr lang="en-US" sz="1150" dirty="0">
              <a:solidFill>
                <a:srgbClr val="4C4C4D"/>
              </a:solidFill>
              <a:latin typeface="Heebo" pitchFamily="34" charset="0"/>
              <a:cs typeface="Heebo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cs typeface="Heebo" pitchFamily="34" charset="-120"/>
              </a:rPr>
              <a:t>4: Yash Shankar Nimbalkar</a:t>
            </a:r>
          </a:p>
        </p:txBody>
      </p:sp>
      <p:sp>
        <p:nvSpPr>
          <p:cNvPr id="9" name="Shape 6"/>
          <p:cNvSpPr/>
          <p:nvPr/>
        </p:nvSpPr>
        <p:spPr>
          <a:xfrm>
            <a:off x="5233360" y="3739158"/>
            <a:ext cx="6296860" cy="828873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Shape 7"/>
          <p:cNvSpPr/>
          <p:nvPr/>
        </p:nvSpPr>
        <p:spPr>
          <a:xfrm>
            <a:off x="5233360" y="3739158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1" name="Text 8"/>
          <p:cNvSpPr/>
          <p:nvPr/>
        </p:nvSpPr>
        <p:spPr>
          <a:xfrm>
            <a:off x="5384566" y="3890367"/>
            <a:ext cx="599444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Guide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384566" y="4199136"/>
            <a:ext cx="599444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[Prof. B. A. </a:t>
            </a:r>
            <a:r>
              <a:rPr lang="en-US" sz="1150" dirty="0" err="1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Chougule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233360" y="4568031"/>
            <a:ext cx="6296860" cy="82887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4" name="Shape 11"/>
          <p:cNvSpPr/>
          <p:nvPr/>
        </p:nvSpPr>
        <p:spPr>
          <a:xfrm>
            <a:off x="5233360" y="4568031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5" name="Text 12"/>
          <p:cNvSpPr/>
          <p:nvPr/>
        </p:nvSpPr>
        <p:spPr>
          <a:xfrm>
            <a:off x="5384566" y="4719241"/>
            <a:ext cx="599444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Department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384566" y="5028009"/>
            <a:ext cx="599444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Computer Science &amp; Engineering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233360" y="5396905"/>
            <a:ext cx="6296860" cy="828873"/>
          </a:xfrm>
          <a:custGeom>
            <a:avLst/>
            <a:gdLst/>
            <a:ahLst/>
            <a:cxnLst/>
            <a:rect l="l" t="t" r="r" b="b"/>
            <a:pathLst>
              <a:path w="6296860" h="828873">
                <a:moveTo>
                  <a:pt x="0" y="0"/>
                </a:moveTo>
                <a:lnTo>
                  <a:pt x="6296860" y="0"/>
                </a:lnTo>
                <a:lnTo>
                  <a:pt x="6296860" y="809971"/>
                </a:lnTo>
                <a:arcTo wR="18902" hR="18902" stAng="0" swAng="5400000"/>
                <a:lnTo>
                  <a:pt x="18902" y="828873"/>
                </a:lnTo>
                <a:arcTo wR="18902" hR="18902" stAng="5400000" swAng="5400000"/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8" name="Shape 15"/>
          <p:cNvSpPr/>
          <p:nvPr/>
        </p:nvSpPr>
        <p:spPr>
          <a:xfrm>
            <a:off x="5233360" y="5396905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9" name="Text 16"/>
          <p:cNvSpPr/>
          <p:nvPr/>
        </p:nvSpPr>
        <p:spPr>
          <a:xfrm>
            <a:off x="5384566" y="5548114"/>
            <a:ext cx="599444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Academic Year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384566" y="5856883"/>
            <a:ext cx="599444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2026–2027</a:t>
            </a:r>
            <a:endParaRPr lang="en-US" sz="1150" dirty="0"/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01EDA558-441B-C3AB-4052-66B60E810129}"/>
              </a:ext>
            </a:extLst>
          </p:cNvPr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7A7154BB-0C45-73C1-3A7F-042A16994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9942A27-CA54-90F0-6038-D2F763E28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6937" y="6514789"/>
            <a:ext cx="1425063" cy="3048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942163" y="809625"/>
            <a:ext cx="1262130" cy="201116"/>
          </a:xfrm>
          <a:prstGeom prst="roundRect">
            <a:avLst>
              <a:gd name="adj" fmla="val 7895"/>
            </a:avLst>
          </a:prstGeom>
          <a:solidFill>
            <a:srgbClr val="CCD7FF"/>
          </a:solidFill>
          <a:ln/>
        </p:spPr>
      </p:sp>
      <p:sp>
        <p:nvSpPr>
          <p:cNvPr id="4" name="Text 1"/>
          <p:cNvSpPr/>
          <p:nvPr/>
        </p:nvSpPr>
        <p:spPr>
          <a:xfrm>
            <a:off x="8021536" y="849313"/>
            <a:ext cx="1712969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942163" y="1047750"/>
            <a:ext cx="3594308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Insurance Comprehension Gap</a:t>
            </a:r>
            <a:endParaRPr lang="en-US" sz="2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1771" y="1982887"/>
            <a:ext cx="198433" cy="1984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72067" y="1978819"/>
            <a:ext cx="31644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Lengthy &amp; Complex Documents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372067" y="2278063"/>
            <a:ext cx="3164404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Policies run hundreds of pages with dense legal and technical terminology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1771" y="2827338"/>
            <a:ext cx="198433" cy="1984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72067" y="2823270"/>
            <a:ext cx="31644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Critical Clauses Are Hidden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8372067" y="3122513"/>
            <a:ext cx="3164404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Exclusions, conditions, and coverage limits are hard to locate manually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1771" y="3671788"/>
            <a:ext cx="198433" cy="1984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72067" y="3667720"/>
            <a:ext cx="31644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Comparison Is Exhausting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8372067" y="3966964"/>
            <a:ext cx="3164404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Evaluating multiple policies side-by-side is time-consuming and error-prone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1771" y="4516239"/>
            <a:ext cx="198433" cy="19843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372067" y="4512171"/>
            <a:ext cx="31644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Generic AI Hallucinates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8372067" y="4811415"/>
            <a:ext cx="3164404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Standard LLMs generate plausible but unsupported, unverified answers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7942163" y="5275560"/>
            <a:ext cx="3594308" cy="772716"/>
          </a:xfrm>
          <a:prstGeom prst="roundRect">
            <a:avLst>
              <a:gd name="adj" fmla="val 2568"/>
            </a:avLst>
          </a:prstGeom>
          <a:solidFill>
            <a:srgbClr val="FCF2B5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418" y="5412383"/>
            <a:ext cx="165294" cy="13225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371968" y="5391944"/>
            <a:ext cx="3032248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Motivation: Build an AI assistant that delivers </a:t>
            </a: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evidence-backed, user-friendly answers</a:t>
            </a: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from real policy documents.</a:t>
            </a:r>
            <a:endParaRPr lang="en-US" sz="1000" dirty="0"/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0C747615-37D4-E84F-184F-854795EDF791}"/>
              </a:ext>
            </a:extLst>
          </p:cNvPr>
          <p:cNvSpPr/>
          <p:nvPr/>
        </p:nvSpPr>
        <p:spPr>
          <a:xfrm>
            <a:off x="-1" y="0"/>
            <a:ext cx="7411951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BF51155D-2B8B-9D1B-F9B9-628AD0AA66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4485" y="15180"/>
            <a:ext cx="4382978" cy="657463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072AAF4-DE40-0951-C514-2B5E4C8D86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6937" y="6514789"/>
            <a:ext cx="1425063" cy="3048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1996"/>
            <a:ext cx="1483879" cy="243979"/>
          </a:xfrm>
          <a:prstGeom prst="roundRect">
            <a:avLst>
              <a:gd name="adj" fmla="val 7902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57814" y="620117"/>
            <a:ext cx="1900785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PROPOSED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70545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An Intelligent Policy Assistant — Grounded in Evidence</a:t>
            </a:r>
            <a:endParaRPr lang="en-US" sz="3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77380"/>
            <a:ext cx="321262" cy="3212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2069306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Ingest &amp; Structure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61475" y="2402185"/>
            <a:ext cx="534904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Upload insurance PDFs — system extracts sections, clauses, and tables automatically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1173" y="1577380"/>
            <a:ext cx="321262" cy="3212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81173" y="2069306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Semantic Search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181173" y="2402185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Creates intelligent embeddings for precise, context-aware retrieval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150691"/>
            <a:ext cx="321262" cy="32127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1475" y="3642618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Evidence-Based QA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661475" y="3975497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Answers questions with direct citations from retrieved policy clauses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1173" y="3150691"/>
            <a:ext cx="321262" cy="32127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81173" y="3642618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Plain-Language Summaries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6181173" y="3975497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Condenses complex policies into simple, readable overviews</a:t>
            </a:r>
            <a:endParaRPr lang="en-US" sz="12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486275"/>
            <a:ext cx="321262" cy="32127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61475" y="4978202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Policy Recommendation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661475" y="5311080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Matches user requirements to the most suitable available policies</a:t>
            </a:r>
            <a:endParaRPr lang="en-US" sz="12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1173" y="4486275"/>
            <a:ext cx="321262" cy="32127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181173" y="4978202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Evaluator Verification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6181173" y="5311080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Every answer is verified before presentation — no ungrounded claims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661475" y="5702399"/>
            <a:ext cx="10868745" cy="583605"/>
          </a:xfrm>
          <a:prstGeom prst="roundRect">
            <a:avLst>
              <a:gd name="adj" fmla="val 4129"/>
            </a:avLst>
          </a:prstGeom>
          <a:solidFill>
            <a:srgbClr val="CCD7FF"/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106" y="5897166"/>
            <a:ext cx="200814" cy="160635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183551" y="5879009"/>
            <a:ext cx="10795623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🔒 </a:t>
            </a:r>
            <a:r>
              <a:rPr lang="en-US" sz="12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Core Principle: NO EVIDENCE = NO CLAIM</a:t>
            </a:r>
            <a:endParaRPr lang="en-US" sz="12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8743A67-941E-31D2-C0B4-FB80340CA8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66937" y="6514789"/>
            <a:ext cx="1425063" cy="3048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8686"/>
            <a:ext cx="1823793" cy="272752"/>
          </a:xfrm>
          <a:prstGeom prst="roundRect">
            <a:avLst>
              <a:gd name="adj" fmla="val 7900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69125" y="652463"/>
            <a:ext cx="2218079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939602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Proposed System Workflow</a:t>
            </a:r>
            <a:endParaRPr lang="en-US" sz="3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23" y="1756668"/>
            <a:ext cx="9994551" cy="37504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73992" y="4451476"/>
            <a:ext cx="1507461" cy="58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Structured Output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274179" y="4451476"/>
            <a:ext cx="1507461" cy="58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Processing &amp; Eval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384689" y="4451476"/>
            <a:ext cx="1507461" cy="58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Semantic Chunking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495200" y="4596676"/>
            <a:ext cx="1507461" cy="29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Structuring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64411" y="4596676"/>
            <a:ext cx="1507461" cy="29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Ingest &amp; OCR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61475" y="5699026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Each output carries a </a:t>
            </a: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Decision · Confidence Score · Conditions · Page &amp; Clause Citations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no answer is presented without verified retrieval evidence.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BCB99CF-CB13-5436-3CB4-1390FA58C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6937" y="6514789"/>
            <a:ext cx="1425063" cy="3048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27088"/>
            <a:ext cx="1695904" cy="287139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83741"/>
            <a:ext cx="207868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TECHNOLOGY STACK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8983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Built on a Modern, Production-Ready Stack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063948"/>
            <a:ext cx="3496877" cy="1095474"/>
          </a:xfrm>
          <a:prstGeom prst="roundRect">
            <a:avLst>
              <a:gd name="adj" fmla="val 2588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850482" y="2252960"/>
            <a:ext cx="3118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📄</a:t>
            </a: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Document Processing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0482" y="2667992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PyMuPDF · PaddleOCR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063948"/>
            <a:ext cx="3496877" cy="1095474"/>
          </a:xfrm>
          <a:prstGeom prst="roundRect">
            <a:avLst>
              <a:gd name="adj" fmla="val 2588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4536366" y="2252960"/>
            <a:ext cx="3118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Backend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536366" y="2667992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NodeJS, Python ·  FastAPI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33244" y="2063948"/>
            <a:ext cx="3496877" cy="1095474"/>
          </a:xfrm>
          <a:prstGeom prst="roundRect">
            <a:avLst>
              <a:gd name="adj" fmla="val 2588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2251" y="2252960"/>
            <a:ext cx="3118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🗄️</a:t>
            </a: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Database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222251" y="2667992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PostgreSQL · pgvector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1475" y="3348434"/>
            <a:ext cx="3496877" cy="1397893"/>
          </a:xfrm>
          <a:prstGeom prst="roundRect">
            <a:avLst>
              <a:gd name="adj" fmla="val 2028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850482" y="3537446"/>
            <a:ext cx="3118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Retrieval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50482" y="3952478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Vector Search · BM25 · Hybrid · Cross-Encoder Reranker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347359" y="3348434"/>
            <a:ext cx="3496877" cy="1397893"/>
          </a:xfrm>
          <a:prstGeom prst="roundRect">
            <a:avLst>
              <a:gd name="adj" fmla="val 2028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4536366" y="3537446"/>
            <a:ext cx="3118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AI / LLM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4536366" y="3952478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Embedding Models · Large Language Models · Grounded Generation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033244" y="3348434"/>
            <a:ext cx="3496877" cy="1397893"/>
          </a:xfrm>
          <a:prstGeom prst="roundRect">
            <a:avLst>
              <a:gd name="adj" fmla="val 2028"/>
            </a:avLst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2251" y="3537446"/>
            <a:ext cx="3118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ML Models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8222251" y="3952478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LightGBM · XGBoost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61475" y="4935339"/>
            <a:ext cx="10868646" cy="1095474"/>
          </a:xfrm>
          <a:prstGeom prst="roundRect">
            <a:avLst>
              <a:gd name="adj" fmla="val 2588"/>
            </a:avLst>
          </a:prstGeom>
          <a:solidFill>
            <a:srgbClr val="F2EEEE"/>
          </a:solidFill>
          <a:ln/>
        </p:spPr>
      </p:sp>
      <p:sp>
        <p:nvSpPr>
          <p:cNvPr id="24" name="Text 22"/>
          <p:cNvSpPr/>
          <p:nvPr/>
        </p:nvSpPr>
        <p:spPr>
          <a:xfrm>
            <a:off x="850482" y="5124351"/>
            <a:ext cx="1049063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🖥️</a:t>
            </a: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Frontend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850482" y="5539383"/>
            <a:ext cx="1049063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ReactJS / NextJS</a:t>
            </a:r>
            <a:endParaRPr lang="en-US" sz="14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EA9E329-8A9D-64E8-AB77-E2AA1D1B7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6937" y="6514789"/>
            <a:ext cx="1425063" cy="3048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8800"/>
            <a:ext cx="1052387" cy="226219"/>
          </a:xfrm>
          <a:prstGeom prst="roundRect">
            <a:avLst>
              <a:gd name="adj" fmla="val 7896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50769" y="603448"/>
            <a:ext cx="1483382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CORE MODULES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31850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Four Intelligent Components Powered by AI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84846"/>
            <a:ext cx="4202206" cy="42023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83763" y="1589980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AI Flow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283763" y="1954312"/>
            <a:ext cx="334855" cy="33486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6339523" y="1982143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735792" y="2005409"/>
            <a:ext cx="480077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Query Understanding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735792" y="2355056"/>
            <a:ext cx="4800778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Intent parsed from user's natural language input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83763" y="2802235"/>
            <a:ext cx="334855" cy="33486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6339523" y="2830066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735792" y="2853333"/>
            <a:ext cx="480077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Retrieval &amp; Reranking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735792" y="3202980"/>
            <a:ext cx="4800778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Hybrid search surfaces the most relevant policy clauses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83763" y="3650159"/>
            <a:ext cx="334855" cy="33486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6" name="Text 13"/>
          <p:cNvSpPr/>
          <p:nvPr/>
        </p:nvSpPr>
        <p:spPr>
          <a:xfrm>
            <a:off x="6339523" y="3677989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735792" y="3701256"/>
            <a:ext cx="480077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Grounded LLM Generation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735792" y="4050903"/>
            <a:ext cx="4800778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LLM explains only what the retrieved evidence supports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83763" y="4498082"/>
            <a:ext cx="334855" cy="33486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0" name="Text 17"/>
          <p:cNvSpPr/>
          <p:nvPr/>
        </p:nvSpPr>
        <p:spPr>
          <a:xfrm>
            <a:off x="6339523" y="4525913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6735792" y="4549180"/>
            <a:ext cx="480077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Evaluator Verification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735792" y="4898827"/>
            <a:ext cx="4800778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Agent checks citations, detects contradictions, assigns confidence — triggers re-retrieval if needed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283763" y="5456337"/>
            <a:ext cx="5252807" cy="711002"/>
          </a:xfrm>
          <a:prstGeom prst="roundRect">
            <a:avLst>
              <a:gd name="adj" fmla="val 3140"/>
            </a:avLst>
          </a:prstGeom>
          <a:solidFill>
            <a:srgbClr val="CCD7FF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588" y="5632847"/>
            <a:ext cx="186031" cy="14882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767442" y="5599013"/>
            <a:ext cx="4620303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Key Principle:</a:t>
            </a: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Retrieval provides evidence → LLM explains it → Evaluator verifies it</a:t>
            </a:r>
            <a:endParaRPr lang="en-US" sz="11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978AE81-B241-4351-C072-9823EBC18E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6937" y="6514789"/>
            <a:ext cx="1425063" cy="3048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2887"/>
            <a:ext cx="2119656" cy="201116"/>
          </a:xfrm>
          <a:prstGeom prst="roundRect">
            <a:avLst>
              <a:gd name="adj" fmla="val 7895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40848" y="752574"/>
            <a:ext cx="2570495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EXPECTED OUTCOMES &amp; FUTURE SCOPE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951012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What CoverageIQ Delivers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595934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Expected Outcomes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907" y="1990130"/>
            <a:ext cx="5074614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Example:</a:t>
            </a: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User: "Is hospitalization covered?"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→ </a:t>
            </a:r>
            <a:r>
              <a:rPr lang="en-US" sz="1000" b="1" dirty="0">
                <a:solidFill>
                  <a:srgbClr val="10B981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COVERED</a:t>
            </a: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| </a:t>
            </a:r>
            <a:r>
              <a:rPr lang="en-US" sz="1000" dirty="0">
                <a:solidFill>
                  <a:srgbClr val="2563EB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  Confidence (Percentage) </a:t>
            </a: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| Subject to policy terms | </a:t>
            </a:r>
            <a:r>
              <a:rPr lang="en-US" sz="10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Page X, Clause 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61475" y="1906786"/>
            <a:ext cx="19050" cy="706636"/>
          </a:xfrm>
          <a:prstGeom prst="roundRect">
            <a:avLst>
              <a:gd name="adj" fmla="val 49999"/>
            </a:avLst>
          </a:prstGeom>
          <a:solidFill>
            <a:srgbClr val="2150FE"/>
          </a:solidFill>
          <a:ln/>
        </p:spPr>
      </p:sp>
      <p:sp>
        <p:nvSpPr>
          <p:cNvPr id="8" name="Text 6"/>
          <p:cNvSpPr/>
          <p:nvPr/>
        </p:nvSpPr>
        <p:spPr>
          <a:xfrm>
            <a:off x="6263523" y="1595934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Future Scope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3523" y="1929904"/>
            <a:ext cx="198433" cy="1984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54524" y="1935659"/>
            <a:ext cx="498204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Multi-Provider Support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54524" y="2234902"/>
            <a:ext cx="498204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Health, Life, Car &amp; Term policies across multiple insurers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3523" y="2623245"/>
            <a:ext cx="198433" cy="1984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54524" y="2628999"/>
            <a:ext cx="498204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Multilingual &amp; Voice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554524" y="2928243"/>
            <a:ext cx="498204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Regional language support and voice-based query interface</a:t>
            </a:r>
            <a:endParaRPr lang="en-US" sz="10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3523" y="3316585"/>
            <a:ext cx="198433" cy="1984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54524" y="3322340"/>
            <a:ext cx="498204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Policy Comparison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554524" y="3621584"/>
            <a:ext cx="498204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Side-by-side comparison of plans across providers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3523" y="4009926"/>
            <a:ext cx="198433" cy="1984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54524" y="4015680"/>
            <a:ext cx="498204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Platform Integration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554524" y="4314924"/>
            <a:ext cx="498204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API-level integration with real-world insurance portals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263523" y="4599087"/>
            <a:ext cx="5273047" cy="412750"/>
          </a:xfrm>
          <a:prstGeom prst="roundRect">
            <a:avLst>
              <a:gd name="adj" fmla="val 4808"/>
            </a:avLst>
          </a:prstGeom>
          <a:solidFill>
            <a:srgbClr val="CCD7F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5778" y="4735909"/>
            <a:ext cx="165294" cy="13225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93328" y="4715470"/>
            <a:ext cx="532057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Thank You </a:t>
            </a:r>
            <a:endParaRPr lang="en-US" sz="10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5220196"/>
            <a:ext cx="2647685" cy="92481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88978" y="5371505"/>
            <a:ext cx="226887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Faster Policy Understanding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888978" y="5633740"/>
            <a:ext cx="2268878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Seconds to find answers that would take hours to locate manually</a:t>
            </a:r>
            <a:endParaRPr lang="en-US" sz="10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01729" y="5220196"/>
            <a:ext cx="2647785" cy="92481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629232" y="5371505"/>
            <a:ext cx="226897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Evidence-Backed Answers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3629232" y="5633740"/>
            <a:ext cx="226897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Every response cites the exact page and clause from the policy document</a:t>
            </a:r>
            <a:endParaRPr lang="en-US" sz="10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42082" y="5220196"/>
            <a:ext cx="2647785" cy="92481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369585" y="5371505"/>
            <a:ext cx="226897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Reduced Hallucination</a:t>
            </a:r>
            <a:endParaRPr lang="en-US" sz="1300" dirty="0"/>
          </a:p>
        </p:txBody>
      </p:sp>
      <p:sp>
        <p:nvSpPr>
          <p:cNvPr id="32" name="Text 22"/>
          <p:cNvSpPr/>
          <p:nvPr/>
        </p:nvSpPr>
        <p:spPr>
          <a:xfrm>
            <a:off x="6369585" y="5633740"/>
            <a:ext cx="226897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Retrieval + Evaluator Agent ensures grounded, verified outputs only</a:t>
            </a:r>
            <a:endParaRPr lang="en-US" sz="10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82436" y="5220196"/>
            <a:ext cx="2647785" cy="92481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9109939" y="5371505"/>
            <a:ext cx="226897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Plain-Language Summaries</a:t>
            </a:r>
            <a:endParaRPr lang="en-US" sz="1300" dirty="0"/>
          </a:p>
        </p:txBody>
      </p:sp>
      <p:sp>
        <p:nvSpPr>
          <p:cNvPr id="35" name="Text 24"/>
          <p:cNvSpPr/>
          <p:nvPr/>
        </p:nvSpPr>
        <p:spPr>
          <a:xfrm>
            <a:off x="9109939" y="5633740"/>
            <a:ext cx="226897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Complex exclusions and conditions explained in simple terms</a:t>
            </a:r>
            <a:endParaRPr lang="en-US" sz="10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6871394-B4B4-82D3-3BCA-F1DCC45591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6937" y="6514789"/>
            <a:ext cx="1425063" cy="3048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536</Words>
  <Application>Microsoft Office PowerPoint</Application>
  <PresentationFormat>Widescreen</PresentationFormat>
  <Paragraphs>109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Heebo Bold</vt:lpstr>
      <vt:lpstr>Twemoji Mozilla</vt:lpstr>
      <vt:lpstr>Arial</vt:lpstr>
      <vt:lpstr>Crimson Pro SemiBold</vt:lpstr>
      <vt:lpstr>Heebo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Shravan Kapare</dc:creator>
  <cp:lastModifiedBy>Shravan Kapare</cp:lastModifiedBy>
  <cp:revision>2</cp:revision>
  <dcterms:created xsi:type="dcterms:W3CDTF">2026-08-29T04:51:57Z</dcterms:created>
  <dcterms:modified xsi:type="dcterms:W3CDTF">2026-08-29T05:12:17Z</dcterms:modified>
</cp:coreProperties>
</file>